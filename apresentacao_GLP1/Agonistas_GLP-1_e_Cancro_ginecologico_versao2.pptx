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Arial"/>
              </a:rPr>
              <a:t>Perda ponderal média do peso inicial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Perda ponderal média (%)</c:v>
                </c:pt>
              </c:strCache>
            </c:strRef>
          </c:tx>
          <c:spPr>
            <a:solidFill>
              <a:srgbClr val="A85A62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Liraglutido 3,0 mg
(SCALE, 56 sem)</c:v>
                  </c:pt>
                  <c:pt idx="1">
                    <c:v>Semaglutido 2,4 mg
(STEP 1, 68 sem)</c:v>
                  </c:pt>
                  <c:pt idx="2">
                    <c:v>Tirzepatida 15 mg
(SURMOUNT-1, 72 sem)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14.9</c:v>
                </c:pt>
                <c:pt idx="2">
                  <c:v>20.9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dos observacionais, o topo da hierarquia: as meta-análises de RCT. Ko et al. (Annals, 48 RCT, 94 245 participantes) não mostram efeito no carcinoma do endométrio, com certeza baixa. A meta-análise em rede do J Hematol Oncol (91 RCT) só encontrou um sinal com tirzepatida 15 mg, com IC muito largo. Os ensaios não foram desenhados para cancro e têm seguimento curto.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Revisão sistemática em DM2: redução global modesta do risco de cancro, HR 0,86 (0,74–0,99), com heterogeneidade muito elevada e só dados observacionais.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estudo metodologicamente mais forte: comparador ativo (sulfonilureias) e novos utilizadores, o que reduz o viés de indicação e o viés do utilizador prevalente. O resultado global é nulo (HR 1,11). Na análise de duração, o uso superior a 2 anos associou-se a maior risco (HR 2,47; 1,37–4,43). É uma análise secundária com poucos eventos, mas não pode ser omitida: vai no sentido contrário ao da prevenção.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Importante: o comparador são não-utilizadores, não outro fármaco. O HR do rim (IC 0,99–1,93) inclui 1, logo não há associação significativa. A redução de 47% no cancro do ovário, um tumor pouco associado à obesidade, é mais provavelmente um sinal de confundimento residual do que um efeito real – e isso também pesa na interpretação do resultado no endométrio.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Cito o artigo publicado na JAMA Network Open (2026) e não o resumo do SGO 2025, que tinha números diferentes (HR 0,44, 0,56 e 0,33) e não mostrava redução nas hiperplasias e pólipos. No artigo: HR 0,34 face ao progestativo isolado e HR 0,30 face a metformina + progestativo. A população é sobretudo de baixo risco (HUA, leiomioma submucoso, pólipo, hiperplasia simples). Uma redução de 66% numa população jovem e de baixo risco é biologicamente implausível sem confundimento residual: quem recebe GLP-1RA tem maior acesso a cuidados, diferente IMC e diferente vigilância; o desfecho é raro e depende de quem faz biópsia/histerectomia.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padrão é o mais importante: o estudo com comparador ativo e novos utilizadores não mostra benefício; os estudos com comparadores mais fracos (não-utilizadores, insulina) e populações de baixo risco mostram benefícios cada vez maiores. É o padrão esperado quando há confundimento, e é exatamente o que a meta-análise estratificada vai testar.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evidência pré-clínica não é unívoca: Kanda 2018 sugere efeito antiproliferativo, mas Li et al. 2024 mostrou que o GLP-1R aumenta a sobrevivência, migração e invasão de células de carcinoma do endométrio e as protege da ferroptose.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recomendação da orientadora, a proposta passou de scoping review para revisão sistemática com meta-análise, restrita a dados humanos. A pergunta 'os GLP-1RA previnem o carcinoma do endométrio?' é uma pergunta de efeito, e já existem estimativas combináveis.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365760"/>
            <a:ext cx="1554480" cy="1645920"/>
          </a:xfrm>
          <a:prstGeom prst="ellipse">
            <a:avLst/>
          </a:prstGeom>
          <a:solidFill>
            <a:srgbClr val="A85A62"/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320040"/>
            <a:ext cx="822960" cy="45720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4" name="Shape 2"/>
          <p:cNvSpPr/>
          <p:nvPr/>
        </p:nvSpPr>
        <p:spPr>
          <a:xfrm>
            <a:off x="8321040" y="640080"/>
            <a:ext cx="822960" cy="45720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3749040"/>
            <a:ext cx="1097280" cy="1463040"/>
          </a:xfrm>
          <a:prstGeom prst="ellipse">
            <a:avLst/>
          </a:prstGeom>
          <a:solidFill>
            <a:srgbClr val="F7CCD3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0" y="4023360"/>
            <a:ext cx="777240" cy="777240"/>
          </a:xfrm>
          <a:prstGeom prst="ellipse">
            <a:avLst/>
          </a:prstGeom>
          <a:solidFill>
            <a:srgbClr val="A85A62"/>
          </a:solidFill>
          <a:ln/>
        </p:spPr>
      </p:sp>
      <p:sp>
        <p:nvSpPr>
          <p:cNvPr id="7" name="Shape 5"/>
          <p:cNvSpPr/>
          <p:nvPr/>
        </p:nvSpPr>
        <p:spPr>
          <a:xfrm>
            <a:off x="1463040" y="4572000"/>
            <a:ext cx="1188720" cy="91440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80160" y="320040"/>
            <a:ext cx="6583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Agonistas do recetor GLP-1 e prevenção do carcinoma do endométrio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632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revisão sistemática com meta-análise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1605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Beatriz David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Orientação: Professora Doutora Fernanda Santos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Direção de Serviço de Ginecologia: Dra Fernanda Águas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137160"/>
            <a:ext cx="1188720" cy="1325880"/>
          </a:xfrm>
          <a:prstGeom prst="ellipse">
            <a:avLst/>
          </a:prstGeom>
          <a:solidFill>
            <a:srgbClr val="F7CCD3"/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8366760" y="164592"/>
            <a:ext cx="914400" cy="45720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4" name="Shape 2"/>
          <p:cNvSpPr/>
          <p:nvPr/>
        </p:nvSpPr>
        <p:spPr>
          <a:xfrm>
            <a:off x="-777240" y="3108960"/>
            <a:ext cx="1234440" cy="1737360"/>
          </a:xfrm>
          <a:prstGeom prst="ellipse">
            <a:avLst/>
          </a:prstGeom>
          <a:solidFill>
            <a:srgbClr val="A85A62"/>
          </a:solidFill>
          <a:ln/>
        </p:spPr>
      </p:sp>
      <p:sp>
        <p:nvSpPr>
          <p:cNvPr id="5" name="Shape 3"/>
          <p:cNvSpPr/>
          <p:nvPr/>
        </p:nvSpPr>
        <p:spPr>
          <a:xfrm>
            <a:off x="7635240" y="4572000"/>
            <a:ext cx="1280160" cy="109728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234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2344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Contextualização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965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9659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Agonistas do recetor GLP-1: mecanismos de ação e fármacos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697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69748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 atual, por ordem de hierarquia: ensaios aleatorizados → estudos observacionais → estudos pré-clínicos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429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42900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Proposta: revisão sistemática com meta-análise (dados humanos)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137160"/>
            <a:ext cx="1188720" cy="1325880"/>
          </a:xfrm>
          <a:prstGeom prst="ellipse">
            <a:avLst/>
          </a:prstGeom>
          <a:solidFill>
            <a:srgbClr val="F7CCD3"/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8366760" y="164592"/>
            <a:ext cx="914400" cy="45720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4" name="Shape 2"/>
          <p:cNvSpPr/>
          <p:nvPr/>
        </p:nvSpPr>
        <p:spPr>
          <a:xfrm>
            <a:off x="-777240" y="3108960"/>
            <a:ext cx="1234440" cy="1737360"/>
          </a:xfrm>
          <a:prstGeom prst="ellipse">
            <a:avLst/>
          </a:prstGeom>
          <a:solidFill>
            <a:srgbClr val="A85A62"/>
          </a:solidFill>
          <a:ln/>
        </p:spPr>
      </p:sp>
      <p:sp>
        <p:nvSpPr>
          <p:cNvPr id="5" name="Shape 3"/>
          <p:cNvSpPr/>
          <p:nvPr/>
        </p:nvSpPr>
        <p:spPr>
          <a:xfrm>
            <a:off x="7635240" y="4572000"/>
            <a:ext cx="1280160" cy="109728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Obesidade e cancro: um problema central em ginecologia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1188720"/>
            <a:ext cx="3474720" cy="411480"/>
          </a:xfrm>
          <a:prstGeom prst="roundRect">
            <a:avLst>
              <a:gd name="adj" fmla="val 22222"/>
            </a:avLst>
          </a:prstGeom>
          <a:solidFill>
            <a:srgbClr val="FCEB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24128" y="1261872"/>
            <a:ext cx="32552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Obesidade / DM2 / insulinorresistência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1600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A08E"/>
                </a:solidFill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1874520"/>
            <a:ext cx="3474720" cy="411480"/>
          </a:xfrm>
          <a:prstGeom prst="roundRect">
            <a:avLst>
              <a:gd name="adj" fmla="val 22222"/>
            </a:avLst>
          </a:prstGeom>
          <a:solidFill>
            <a:srgbClr val="FCEB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24128" y="1947672"/>
            <a:ext cx="32552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Hiperinsulinemia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2286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A08E"/>
                </a:solidFill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2560320"/>
            <a:ext cx="3474720" cy="411480"/>
          </a:xfrm>
          <a:prstGeom prst="roundRect">
            <a:avLst>
              <a:gd name="adj" fmla="val 22222"/>
            </a:avLst>
          </a:prstGeom>
          <a:solidFill>
            <a:srgbClr val="FCEB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24128" y="2633472"/>
            <a:ext cx="32552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Insulina / IGF-1 → PI3K–AKT–mTOR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2971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A08E"/>
                </a:solidFill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3246120"/>
            <a:ext cx="3474720" cy="411480"/>
          </a:xfrm>
          <a:prstGeom prst="roundRect">
            <a:avLst>
              <a:gd name="adj" fmla="val 22222"/>
            </a:avLst>
          </a:prstGeom>
          <a:solidFill>
            <a:srgbClr val="A85A6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24128" y="3319272"/>
            <a:ext cx="32552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proliferação e sobrevivência celular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3977640"/>
            <a:ext cx="3474720" cy="685800"/>
          </a:xfrm>
          <a:prstGeom prst="roundRect">
            <a:avLst>
              <a:gd name="adj" fmla="val 13333"/>
            </a:avLst>
          </a:prstGeom>
          <a:solidFill>
            <a:srgbClr val="F7CCD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24128" y="4050792"/>
            <a:ext cx="325526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Tecido adiposo ↑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aromatização periférica: estrogénios sem oposição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inflamação crónica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137160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FCEBE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47488" y="1444752"/>
            <a:ext cx="298094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Proliferação endometrial → hiperplasia → carcinoma do endométrio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CE: o cancro com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risco relativo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associado à obesidade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292608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A85A6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47488" y="2999232"/>
            <a:ext cx="2980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agonistas do recetor GLP-1 poderão modificar estes fatores?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7365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Zhang Y, et al. Overweight, obesity and endometrial cancer risk: results from a systematic review and meta-analysis. Int J Biol Markers. 2014;29(1):e21-9.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137160"/>
            <a:ext cx="1188720" cy="1325880"/>
          </a:xfrm>
          <a:prstGeom prst="ellipse">
            <a:avLst/>
          </a:prstGeom>
          <a:solidFill>
            <a:srgbClr val="F7CCD3"/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8366760" y="164592"/>
            <a:ext cx="914400" cy="45720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4" name="Shape 2"/>
          <p:cNvSpPr/>
          <p:nvPr/>
        </p:nvSpPr>
        <p:spPr>
          <a:xfrm>
            <a:off x="-777240" y="3108960"/>
            <a:ext cx="1234440" cy="1737360"/>
          </a:xfrm>
          <a:prstGeom prst="ellipse">
            <a:avLst/>
          </a:prstGeom>
          <a:solidFill>
            <a:srgbClr val="A85A62"/>
          </a:solidFill>
          <a:ln/>
        </p:spPr>
      </p:sp>
      <p:sp>
        <p:nvSpPr>
          <p:cNvPr id="5" name="Shape 3"/>
          <p:cNvSpPr/>
          <p:nvPr/>
        </p:nvSpPr>
        <p:spPr>
          <a:xfrm>
            <a:off x="7635240" y="4572000"/>
            <a:ext cx="1280160" cy="109728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Agonistas do recetor GLP-1 – mecanismo de ação</a:t>
            </a:r>
            <a:endParaRPr lang="en-US" sz="2400" dirty="0"/>
          </a:p>
        </p:txBody>
      </p:sp>
      <p:pic>
        <p:nvPicPr>
          <p:cNvPr id="7" name="Image 0" descr="/tmp/claude-0/-home-user-SAV/f36fa6da-8765-501b-b4d2-e431596a13f9/scratchpad/img/p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937760" cy="33924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192024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7CCD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19088" y="1993392"/>
            <a:ext cx="17922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Efeito indireto: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melhoria do ambiente metabólico sistémico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7365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Drucker DJ. GLP-1 physiology informs the pharmacotherapy of obesity. Mol Metab. 2022;57:101351.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137160"/>
            <a:ext cx="1188720" cy="1325880"/>
          </a:xfrm>
          <a:prstGeom prst="ellipse">
            <a:avLst/>
          </a:prstGeom>
          <a:solidFill>
            <a:srgbClr val="F7CCD3"/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8366760" y="164592"/>
            <a:ext cx="914400" cy="45720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4" name="Shape 2"/>
          <p:cNvSpPr/>
          <p:nvPr/>
        </p:nvSpPr>
        <p:spPr>
          <a:xfrm>
            <a:off x="-777240" y="3108960"/>
            <a:ext cx="1234440" cy="1737360"/>
          </a:xfrm>
          <a:prstGeom prst="ellipse">
            <a:avLst/>
          </a:prstGeom>
          <a:solidFill>
            <a:srgbClr val="A85A62"/>
          </a:solidFill>
          <a:ln/>
        </p:spPr>
      </p:sp>
      <p:sp>
        <p:nvSpPr>
          <p:cNvPr id="5" name="Shape 3"/>
          <p:cNvSpPr/>
          <p:nvPr/>
        </p:nvSpPr>
        <p:spPr>
          <a:xfrm>
            <a:off x="7635240" y="4572000"/>
            <a:ext cx="1280160" cy="109728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Fármacos incluídos: agonistas do recetor GLP-1, incluindo agonistas duplos e triplos</a:t>
            </a:r>
            <a:endParaRPr lang="en-US" sz="1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920240"/>
                <a:gridCol w="1645920"/>
                <a:gridCol w="1920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Fármaco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Administração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A6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GLP-1RA ação curta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Exenatido; lixisenatido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 2x/dia; 1x/dia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Aprovados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GLP-1RA ação longa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Liraglutido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 diária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GLP-1RA ação longa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Dulaglutido; exenatido LP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 semanal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Aprovados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GLP-1RA ação longa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Semaglutido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 semanal ou oral diária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GLP-1RA ação longa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PEG-loxenatido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 semanal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Aprovado só na China (ensaio NCT05172999)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Agonista duplo GIP/GLP-1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Tirzepatida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 semanal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Agonista triplo GIP/GLP-1/glucagon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Retatrutida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 semanal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investigação – não aprovado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822960" y="47365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Innocenzi C, et al. Beyond Weight Loss: A Comprehensive Review of Integrated Pharmacotherapy and Metabolic Bariatric Surgery in Endometrial Cancer Care. Medicina (Kaunas). 2026.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137160"/>
            <a:ext cx="1188720" cy="1325880"/>
          </a:xfrm>
          <a:prstGeom prst="ellipse">
            <a:avLst/>
          </a:prstGeom>
          <a:solidFill>
            <a:srgbClr val="F7CCD3"/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8366760" y="164592"/>
            <a:ext cx="914400" cy="45720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4" name="Shape 2"/>
          <p:cNvSpPr/>
          <p:nvPr/>
        </p:nvSpPr>
        <p:spPr>
          <a:xfrm>
            <a:off x="-777240" y="3108960"/>
            <a:ext cx="1234440" cy="1737360"/>
          </a:xfrm>
          <a:prstGeom prst="ellipse">
            <a:avLst/>
          </a:prstGeom>
          <a:solidFill>
            <a:srgbClr val="A85A62"/>
          </a:solidFill>
          <a:ln/>
        </p:spPr>
      </p:sp>
      <p:sp>
        <p:nvSpPr>
          <p:cNvPr id="5" name="Shape 3"/>
          <p:cNvSpPr/>
          <p:nvPr/>
        </p:nvSpPr>
        <p:spPr>
          <a:xfrm>
            <a:off x="7635240" y="4572000"/>
            <a:ext cx="1280160" cy="109728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Agonistas do recetor GLP-1 – benefícios</a:t>
            </a:r>
            <a:endParaRPr lang="en-US" sz="2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1097280"/>
          <a:ext cx="42062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029200" y="128016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DM2: ↓ HbA1c, ↑ sensibilidade à insulina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Cardiovascular: ↓ tensão arterial, ↓ eventos CV major, proteção renal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gravidade da síndrome da apneia obstrutiva do sono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inflamação crónica de baixo grau – via biologicamente associada à carcinogénese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7365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Placebo: −2,6% (SCALE), −2,4% (STEP 1), −3,1% (SURMOUNT-1). Pi-Sunyer X, et al. NEJM 2015;373:11-22 · Wilding JPH, et al. NEJM 2021;384:989-1002 · Jastreboff AM, et al. NEJM 2022;387:205-16 · Drucker DJ. Mol Metab 2022;57:101351.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137160"/>
            <a:ext cx="1188720" cy="1325880"/>
          </a:xfrm>
          <a:prstGeom prst="ellipse">
            <a:avLst/>
          </a:prstGeom>
          <a:solidFill>
            <a:srgbClr val="F7CCD3"/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8366760" y="164592"/>
            <a:ext cx="914400" cy="45720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4" name="Shape 2"/>
          <p:cNvSpPr/>
          <p:nvPr/>
        </p:nvSpPr>
        <p:spPr>
          <a:xfrm>
            <a:off x="-777240" y="3108960"/>
            <a:ext cx="1234440" cy="1737360"/>
          </a:xfrm>
          <a:prstGeom prst="ellipse">
            <a:avLst/>
          </a:prstGeom>
          <a:solidFill>
            <a:srgbClr val="A85A62"/>
          </a:solidFill>
          <a:ln/>
        </p:spPr>
      </p:sp>
      <p:sp>
        <p:nvSpPr>
          <p:cNvPr id="5" name="Shape 3"/>
          <p:cNvSpPr/>
          <p:nvPr/>
        </p:nvSpPr>
        <p:spPr>
          <a:xfrm>
            <a:off x="7635240" y="4572000"/>
            <a:ext cx="1280160" cy="109728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Agonistas do recetor GLP-1 – efeitos adversos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128016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FCEB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2688" y="1353312"/>
            <a:ext cx="334670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Gastrointestinais: náuseas, vómitos, diarreia, dor abdominal, obstipação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FCEB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73168" y="1353312"/>
            <a:ext cx="334670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Graves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Litíase biliar, pancreatite, retinopatia, carcinoma medular da tiroide (raro; sinal em roedores)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11680" y="3200400"/>
            <a:ext cx="5120640" cy="731520"/>
          </a:xfrm>
          <a:prstGeom prst="roundRect">
            <a:avLst>
              <a:gd name="adj" fmla="val 12500"/>
            </a:avLst>
          </a:prstGeom>
          <a:solidFill>
            <a:srgbClr val="A85A6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121408" y="3273552"/>
            <a:ext cx="4901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Titulação é essencial e a tolerabilidade pode limitar a </a:t>
            </a:r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adesão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7365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Innocenzi C, et al. Medicina (Kaunas). 2026.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137160"/>
            <a:ext cx="1188720" cy="1325880"/>
          </a:xfrm>
          <a:prstGeom prst="ellipse">
            <a:avLst/>
          </a:prstGeom>
          <a:solidFill>
            <a:srgbClr val="F7CCD3"/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8366760" y="164592"/>
            <a:ext cx="914400" cy="45720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4" name="Shape 2"/>
          <p:cNvSpPr/>
          <p:nvPr/>
        </p:nvSpPr>
        <p:spPr>
          <a:xfrm>
            <a:off x="-777240" y="3108960"/>
            <a:ext cx="1234440" cy="1737360"/>
          </a:xfrm>
          <a:prstGeom prst="ellipse">
            <a:avLst/>
          </a:prstGeom>
          <a:solidFill>
            <a:srgbClr val="A85A62"/>
          </a:solidFill>
          <a:ln/>
        </p:spPr>
      </p:sp>
      <p:sp>
        <p:nvSpPr>
          <p:cNvPr id="5" name="Shape 3"/>
          <p:cNvSpPr/>
          <p:nvPr/>
        </p:nvSpPr>
        <p:spPr>
          <a:xfrm>
            <a:off x="7635240" y="4572000"/>
            <a:ext cx="1280160" cy="109728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Agonistas GLP-1 e cancro: hierarquia da evidência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017520" y="1143000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A85A6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017520" y="1143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Meta-análises de ensaios aleatorizados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 2025 (Annals) · J Hematol Oncol 2025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801368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BF6E7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468880" y="18013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Revisões sistemáticas de estudos observacionais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em DM2: HR 0,86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0" y="2459736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E0A08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011680" y="245973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Coortes: comparador ativo e novo utilizador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Rothman 2025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554480" y="3118104"/>
            <a:ext cx="6035040" cy="548640"/>
          </a:xfrm>
          <a:prstGeom prst="roundRect">
            <a:avLst>
              <a:gd name="adj" fmla="val 13333"/>
            </a:avLst>
          </a:prstGeom>
          <a:solidFill>
            <a:srgbClr val="F7CCD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54480" y="311810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Coortes com não-utilizadores ou outros comparadores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Wang 2024 · Dai 2025 · Yen 2026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97280" y="3776472"/>
            <a:ext cx="6949440" cy="548640"/>
          </a:xfrm>
          <a:prstGeom prst="roundRect">
            <a:avLst>
              <a:gd name="adj" fmla="val 13333"/>
            </a:avLst>
          </a:prstGeom>
          <a:solidFill>
            <a:srgbClr val="FCEB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7280" y="377647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Estudos pré-clínicos (não entram na meta-análise)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Linhas celulares, organoides, modelos animais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1188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robustez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137160"/>
            <a:ext cx="1188720" cy="1325880"/>
          </a:xfrm>
          <a:prstGeom prst="ellipse">
            <a:avLst/>
          </a:prstGeom>
          <a:solidFill>
            <a:srgbClr val="F7CCD3"/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8366760" y="164592"/>
            <a:ext cx="914400" cy="45720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4" name="Shape 2"/>
          <p:cNvSpPr/>
          <p:nvPr/>
        </p:nvSpPr>
        <p:spPr>
          <a:xfrm>
            <a:off x="-777240" y="3108960"/>
            <a:ext cx="1234440" cy="1737360"/>
          </a:xfrm>
          <a:prstGeom prst="ellipse">
            <a:avLst/>
          </a:prstGeom>
          <a:solidFill>
            <a:srgbClr val="A85A62"/>
          </a:solidFill>
          <a:ln/>
        </p:spPr>
      </p:sp>
      <p:sp>
        <p:nvSpPr>
          <p:cNvPr id="5" name="Shape 3"/>
          <p:cNvSpPr/>
          <p:nvPr/>
        </p:nvSpPr>
        <p:spPr>
          <a:xfrm>
            <a:off x="7635240" y="4572000"/>
            <a:ext cx="1280160" cy="109728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 de ensaios aleatorizados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943600" y="1051560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A85A6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0" y="1051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Nível: meta-análises de RCT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1463040"/>
            <a:ext cx="3749040" cy="2011680"/>
          </a:xfrm>
          <a:prstGeom prst="roundRect">
            <a:avLst>
              <a:gd name="adj" fmla="val 4545"/>
            </a:avLst>
          </a:prstGeom>
          <a:solidFill>
            <a:srgbClr val="FCEBE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49808" y="1536192"/>
            <a:ext cx="352958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 A, et al. Ann Intern Med 2025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+ MA de 48 RCT controlados com placebo · 94 245 participantes · GLP-1RA e agonistas duplos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Tiroide, pâncreas, mama, rim: pouco ou nenhum efeito (certeza moderada)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Carcinoma do endométrio: sem efeito demonstrado – certeza baixa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1463040"/>
            <a:ext cx="3749040" cy="2011680"/>
          </a:xfrm>
          <a:prstGeom prst="roundRect">
            <a:avLst>
              <a:gd name="adj" fmla="val 4545"/>
            </a:avLst>
          </a:prstGeom>
          <a:solidFill>
            <a:srgbClr val="FCEB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773168" y="1536192"/>
            <a:ext cx="352958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Hematol Oncol 2025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Meta-análise em rede de 91 RCT · tumores ginecológicos com GLP-1RA e iSGLT2, por fármaco e dose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Útero/endométrio: sem aumento de risco com a maioria dos fármacos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Tirzepatida 15 mg: ↑ tumores uterinos, OR 5,65 (IC95% 1,21–26,50) – sinal isolado, IC muito largo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3657600"/>
            <a:ext cx="7772400" cy="548640"/>
          </a:xfrm>
          <a:prstGeom prst="roundRect">
            <a:avLst>
              <a:gd name="adj" fmla="val 16667"/>
            </a:avLst>
          </a:prstGeom>
          <a:solidFill>
            <a:srgbClr val="A85A6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9808" y="3730752"/>
            <a:ext cx="7552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Limitação: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ensaios não desenhados para cancro; seguimento curto (~70 semanas) e poucos eventos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7365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 A, et al. Risk for Cancer With GLP-1 Receptor Agonists and Dual Agonists: A Systematic Review and Meta-analysis. Ann Intern Med. 2026;179(2):216-229 (online dez 2025) · The gynecologic tumor risk related to GLP-1 receptor agonists and SGLT2 inhibitors use: a network meta-analysis of 91 RCTs. J Hematol Oncol. 2025. doi:10.1186/s13045-025-01750-x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137160"/>
            <a:ext cx="1188720" cy="1325880"/>
          </a:xfrm>
          <a:prstGeom prst="ellipse">
            <a:avLst/>
          </a:prstGeom>
          <a:solidFill>
            <a:srgbClr val="F7CCD3"/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8366760" y="164592"/>
            <a:ext cx="914400" cy="45720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4" name="Shape 2"/>
          <p:cNvSpPr/>
          <p:nvPr/>
        </p:nvSpPr>
        <p:spPr>
          <a:xfrm>
            <a:off x="-777240" y="3108960"/>
            <a:ext cx="1234440" cy="1737360"/>
          </a:xfrm>
          <a:prstGeom prst="ellipse">
            <a:avLst/>
          </a:prstGeom>
          <a:solidFill>
            <a:srgbClr val="A85A62"/>
          </a:solidFill>
          <a:ln/>
        </p:spPr>
      </p:sp>
      <p:sp>
        <p:nvSpPr>
          <p:cNvPr id="5" name="Shape 3"/>
          <p:cNvSpPr/>
          <p:nvPr/>
        </p:nvSpPr>
        <p:spPr>
          <a:xfrm>
            <a:off x="7635240" y="4572000"/>
            <a:ext cx="1280160" cy="109728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sistemática em doentes com DM2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760720" y="105156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A85A6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60720" y="1051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Nível: RS de estudos observacionais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14630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0,86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IC95% 0,74–0,99 · risco global de cancro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743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Redução global modesta (~14%)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0" y="1508760"/>
            <a:ext cx="3749040" cy="2651760"/>
          </a:xfrm>
          <a:prstGeom prst="roundRect">
            <a:avLst>
              <a:gd name="adj" fmla="val 3448"/>
            </a:avLst>
          </a:prstGeom>
          <a:solidFill>
            <a:srgbClr val="FCEBE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681728" y="1581912"/>
            <a:ext cx="3529584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Interpretação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estudos incluídos; estimativa global a partir de 7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Heterogeneidade elevada (I² ≈ 94%)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Apenas dados observacionais – limite superior do IC próximo de 1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Endométrio: a maioria dos estudos favorece ↓ risco, mas com resultados inconsistentes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7365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Cancer outcomes and biological mechanisms among patients with type 2 diabetes mellitus using GLP-1 receptor agonists: a systematic review and meta-analysis. 2026. PMID 42523690.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137160"/>
            <a:ext cx="1188720" cy="1325880"/>
          </a:xfrm>
          <a:prstGeom prst="ellipse">
            <a:avLst/>
          </a:prstGeom>
          <a:solidFill>
            <a:srgbClr val="F7CCD3"/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8366760" y="164592"/>
            <a:ext cx="914400" cy="45720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4" name="Shape 2"/>
          <p:cNvSpPr/>
          <p:nvPr/>
        </p:nvSpPr>
        <p:spPr>
          <a:xfrm>
            <a:off x="-777240" y="3108960"/>
            <a:ext cx="1234440" cy="1737360"/>
          </a:xfrm>
          <a:prstGeom prst="ellipse">
            <a:avLst/>
          </a:prstGeom>
          <a:solidFill>
            <a:srgbClr val="A85A62"/>
          </a:solidFill>
          <a:ln/>
        </p:spPr>
      </p:sp>
      <p:sp>
        <p:nvSpPr>
          <p:cNvPr id="5" name="Shape 3"/>
          <p:cNvSpPr/>
          <p:nvPr/>
        </p:nvSpPr>
        <p:spPr>
          <a:xfrm>
            <a:off x="7635240" y="4572000"/>
            <a:ext cx="1280160" cy="109728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Rothman et al., 2025 – o desenho observacional mais robusto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760720" y="105156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A85A6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60720" y="1051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Comparador ativo · novo utilizador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1463040"/>
            <a:ext cx="3291840" cy="3017520"/>
          </a:xfrm>
          <a:prstGeom prst="roundRect">
            <a:avLst>
              <a:gd name="adj" fmla="val 3030"/>
            </a:avLst>
          </a:prstGeom>
          <a:solidFill>
            <a:srgbClr val="FCEBE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49808" y="1536192"/>
            <a:ext cx="307238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CPRD (Reino Unido), mulheres com DM2, 2007–2020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Novas utilizadoras de GLP-1RA (n = 9 239) vs sulfonilureias (n = 80 086)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Ponderação por propensity score (fine stratification)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Minimiza viés de indicação e de utilizador prevalente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06240" y="14630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7CCD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315968" y="1536192"/>
            <a:ext cx="17922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1,11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IC95% 0,66–1,88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0" y="146304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A85A6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510528" y="1536192"/>
            <a:ext cx="17922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Duração &gt; 2 anos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2,47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IC95% 1,37–4,43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06240" y="3017520"/>
            <a:ext cx="4206240" cy="1463040"/>
          </a:xfrm>
          <a:prstGeom prst="roundRect">
            <a:avLst>
              <a:gd name="adj" fmla="val 6250"/>
            </a:avLst>
          </a:prstGeom>
          <a:solidFill>
            <a:srgbClr val="FCEBE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315968" y="3090672"/>
            <a:ext cx="398678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proteção global; sinal de ↑ risco com uso prolongado (exenatido: HR 2,26; IC95% 1,06–4,82)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secundária, poucos eventos – hipótese a confirmar, mas contraria a ideia de prevenção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47365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Rothman SM, Yin H, Yu OHY, Pollak M, Azoulay L. Incretin-Based Drugs and the Incidence of Endometrial Cancer Among People with Type 2 Diabetes: Active Comparator New-User Design. Drug Saf. 2025;48(9):1023-1033.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137160"/>
            <a:ext cx="1188720" cy="1325880"/>
          </a:xfrm>
          <a:prstGeom prst="ellipse">
            <a:avLst/>
          </a:prstGeom>
          <a:solidFill>
            <a:srgbClr val="F7CCD3"/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8366760" y="164592"/>
            <a:ext cx="914400" cy="45720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4" name="Shape 2"/>
          <p:cNvSpPr/>
          <p:nvPr/>
        </p:nvSpPr>
        <p:spPr>
          <a:xfrm>
            <a:off x="-777240" y="3108960"/>
            <a:ext cx="1234440" cy="1737360"/>
          </a:xfrm>
          <a:prstGeom prst="ellipse">
            <a:avLst/>
          </a:prstGeom>
          <a:solidFill>
            <a:srgbClr val="A85A62"/>
          </a:solidFill>
          <a:ln/>
        </p:spPr>
      </p:sp>
      <p:sp>
        <p:nvSpPr>
          <p:cNvPr id="5" name="Shape 3"/>
          <p:cNvSpPr/>
          <p:nvPr/>
        </p:nvSpPr>
        <p:spPr>
          <a:xfrm>
            <a:off x="7635240" y="4572000"/>
            <a:ext cx="1280160" cy="109728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Wang et al., 2024 – coorte retrospetiva em DM2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760720" y="105156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A85A6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760720" y="1051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Comparador: insulina / metformina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4630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 milhões de doentes com DM2, sem diagnóstico prévio de 13 cancros associados à obesidade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GLP-1RA comparados com insulina ou com metformina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65176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FCEB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2724912"/>
            <a:ext cx="36210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GLP-1RA vs insulina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risco em 10/13 cancros associados à obesidade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CE: HR 0,74 (IC95% 0,60–0,91)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2651760"/>
            <a:ext cx="3566160" cy="1280160"/>
          </a:xfrm>
          <a:prstGeom prst="roundRect">
            <a:avLst>
              <a:gd name="adj" fmla="val 7143"/>
            </a:avLst>
          </a:prstGeom>
          <a:solidFill>
            <a:srgbClr val="FCEB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56048" y="2724912"/>
            <a:ext cx="334670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GLP-1RA vs metformina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redução significativa global dos cancros associados à obesidade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7365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Wang L, Xu R, Kaelber DC, Berger NA. GLP-1 Receptor Agonists and 13 Obesity-Associated Cancers in Patients With Type 2 Diabetes. JAMA Netw Open. 2024;7(7):e2421305. Nota: a insulina é um comparador com possível efeito pró-proliferativo, o que pode inflacionar o benefício aparente.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137160"/>
            <a:ext cx="1188720" cy="1325880"/>
          </a:xfrm>
          <a:prstGeom prst="ellipse">
            <a:avLst/>
          </a:prstGeom>
          <a:solidFill>
            <a:srgbClr val="F7CCD3"/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8366760" y="164592"/>
            <a:ext cx="914400" cy="45720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4" name="Shape 2"/>
          <p:cNvSpPr/>
          <p:nvPr/>
        </p:nvSpPr>
        <p:spPr>
          <a:xfrm>
            <a:off x="-777240" y="3108960"/>
            <a:ext cx="1234440" cy="1737360"/>
          </a:xfrm>
          <a:prstGeom prst="ellipse">
            <a:avLst/>
          </a:prstGeom>
          <a:solidFill>
            <a:srgbClr val="A85A62"/>
          </a:solidFill>
          <a:ln/>
        </p:spPr>
      </p:sp>
      <p:sp>
        <p:nvSpPr>
          <p:cNvPr id="5" name="Shape 3"/>
          <p:cNvSpPr/>
          <p:nvPr/>
        </p:nvSpPr>
        <p:spPr>
          <a:xfrm>
            <a:off x="7635240" y="4572000"/>
            <a:ext cx="1280160" cy="109728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 et al., 2025 – coorte em adultos com obesidade</a:t>
            </a:r>
            <a:endParaRPr lang="en-US" sz="2400" dirty="0"/>
          </a:p>
        </p:txBody>
      </p:sp>
      <p:pic>
        <p:nvPicPr>
          <p:cNvPr id="8" name="Image 0" descr="/tmp/claude-0/-home-user-SAV/f36fa6da-8765-501b-b4d2-e431596a13f9/scratchpad/img/p0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2743200" cy="184708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1097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OneFlorida+, 2014–2024 · 86 632 adultos com obesidade · emulação de ensaio-alvo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40080" y="3749040"/>
            <a:ext cx="3108960" cy="868680"/>
          </a:xfrm>
          <a:prstGeom prst="roundRect">
            <a:avLst>
              <a:gd name="adj" fmla="val 10526"/>
            </a:avLst>
          </a:prstGeom>
          <a:solidFill>
            <a:srgbClr val="A85A6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49808" y="3822192"/>
            <a:ext cx="28895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Comparador = NÃO-utilizadores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(emparelhamento 1:1 por propensity score: 43 317 vs 43 315)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77640" y="1188720"/>
          <a:ext cx="44348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23444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Cancro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HR (IC95%)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Interpretação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Global (14 cancros)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0,83 (0,76–0,91)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↓ 17%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Endométrio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0,75 (0,57–0,99)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↓ 25% (limite do IC ≈ 1)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Ovário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0,53 (0,29–0,96)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03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↓ 47% – tumor pouco associado à obesidade: sinal de confundimento residual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Meningioma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0,69 (0,48–0,97)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↓ 31%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1,38 (0,99–1,93)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 associação significativa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</a:tr>
            </a:tbl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3977640" y="41605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Incidência global: 13,6 vs 16,4 / 1000 pessoas-ano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822960" y="47365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 H, Li Y, Lee YA, et al. GLP-1 Receptor Agonists and Cancer Risk in Adults With Obesity. JAMA Oncol. 2025. doi:10.1001/jamaoncol.2025.2681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137160"/>
            <a:ext cx="1188720" cy="1325880"/>
          </a:xfrm>
          <a:prstGeom prst="ellipse">
            <a:avLst/>
          </a:prstGeom>
          <a:solidFill>
            <a:srgbClr val="F7CCD3"/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8366760" y="164592"/>
            <a:ext cx="914400" cy="45720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4" name="Shape 2"/>
          <p:cNvSpPr/>
          <p:nvPr/>
        </p:nvSpPr>
        <p:spPr>
          <a:xfrm>
            <a:off x="-777240" y="3108960"/>
            <a:ext cx="1234440" cy="1737360"/>
          </a:xfrm>
          <a:prstGeom prst="ellipse">
            <a:avLst/>
          </a:prstGeom>
          <a:solidFill>
            <a:srgbClr val="A85A62"/>
          </a:solidFill>
          <a:ln/>
        </p:spPr>
      </p:sp>
      <p:sp>
        <p:nvSpPr>
          <p:cNvPr id="5" name="Shape 3"/>
          <p:cNvSpPr/>
          <p:nvPr/>
        </p:nvSpPr>
        <p:spPr>
          <a:xfrm>
            <a:off x="7635240" y="4572000"/>
            <a:ext cx="1280160" cy="109728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 et al., 2026 – GLP-1RA + progestativo em patologia uterina benigna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943600" y="1051560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A85A6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0" y="1051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Coorte retrospetiva · TriNetX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146304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FCEBE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49808" y="1536192"/>
            <a:ext cx="3346704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População sobretudo de baixo risco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Hemorragia uterina anómala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Leiomioma submucoso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Pólipo endometrial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Hiperplasia simples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80560" y="1463040"/>
            <a:ext cx="1874520" cy="1783080"/>
          </a:xfrm>
          <a:prstGeom prst="roundRect">
            <a:avLst>
              <a:gd name="adj" fmla="val 5128"/>
            </a:avLst>
          </a:prstGeom>
          <a:solidFill>
            <a:srgbClr val="F7CCD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590288" y="1536192"/>
            <a:ext cx="1655064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progestativo isolado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0,34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IC95% 0,27–0,44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37960" y="1463040"/>
            <a:ext cx="1874520" cy="1783080"/>
          </a:xfrm>
          <a:prstGeom prst="roundRect">
            <a:avLst>
              <a:gd name="adj" fmla="val 5128"/>
            </a:avLst>
          </a:prstGeom>
          <a:solidFill>
            <a:srgbClr val="F7CCD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647688" y="1536192"/>
            <a:ext cx="1655064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metformina + progestativo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0,30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IC95% 0,15–0,59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3383280"/>
            <a:ext cx="7772400" cy="1234440"/>
          </a:xfrm>
          <a:prstGeom prst="roundRect">
            <a:avLst>
              <a:gd name="adj" fmla="val 7407"/>
            </a:avLst>
          </a:prstGeom>
          <a:solidFill>
            <a:srgbClr val="A85A6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49808" y="3456432"/>
            <a:ext cx="755294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crítica: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redução de 66% numa população jovem e de baixo risco é biologicamente implausível sem confundimento residual (indicação, IMC, acesso a cuidados, vigilância, efeito de utilizador saudável). </a:t>
            </a:r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resumo do SGO 2025 (HR 0,44; 0,56; 0,33) não mostrou redução nas hiperplasias/pólipos – citar apenas o artigo publicado.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47365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 et al. GLP-1 Receptor Agonists Plus Progestins and Endometrial Cancer Risk in Nonmalignant Uterine Diseases. JAMA Netw Open. 2026;9(2):e2558205.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137160"/>
            <a:ext cx="1188720" cy="1325880"/>
          </a:xfrm>
          <a:prstGeom prst="ellipse">
            <a:avLst/>
          </a:prstGeom>
          <a:solidFill>
            <a:srgbClr val="F7CCD3"/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8366760" y="164592"/>
            <a:ext cx="914400" cy="45720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4" name="Shape 2"/>
          <p:cNvSpPr/>
          <p:nvPr/>
        </p:nvSpPr>
        <p:spPr>
          <a:xfrm>
            <a:off x="-777240" y="3108960"/>
            <a:ext cx="1234440" cy="1737360"/>
          </a:xfrm>
          <a:prstGeom prst="ellipse">
            <a:avLst/>
          </a:prstGeom>
          <a:solidFill>
            <a:srgbClr val="A85A62"/>
          </a:solidFill>
          <a:ln/>
        </p:spPr>
      </p:sp>
      <p:sp>
        <p:nvSpPr>
          <p:cNvPr id="5" name="Shape 3"/>
          <p:cNvSpPr/>
          <p:nvPr/>
        </p:nvSpPr>
        <p:spPr>
          <a:xfrm>
            <a:off x="7635240" y="4572000"/>
            <a:ext cx="1280160" cy="109728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Carcinoma do endométrio: estimativas por desenho e comparador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2377440" y="1143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Comparador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269480" y="1143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(IC95%)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1463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Rothman 2025 – global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2377440" y="1463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Sulfonilureias (ativo)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17713" y="1645920"/>
            <a:ext cx="782967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51701" y="1591056"/>
            <a:ext cx="109728" cy="109728"/>
          </a:xfrm>
          <a:prstGeom prst="rect">
            <a:avLst/>
          </a:prstGeom>
          <a:solidFill>
            <a:srgbClr val="A85A62"/>
          </a:solidFill>
          <a:ln w="12700">
            <a:solidFill>
              <a:srgbClr val="A85A6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69480" y="1463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1,11 (0,66–1,88)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Rothman 2025 – &gt; 2 anos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2377440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Sulfonilureias (ativo)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63976" y="2011680"/>
            <a:ext cx="87781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49972" y="1956816"/>
            <a:ext cx="109728" cy="109728"/>
          </a:xfrm>
          <a:prstGeom prst="rect">
            <a:avLst/>
          </a:prstGeom>
          <a:solidFill>
            <a:srgbClr val="A85A62"/>
          </a:solidFill>
          <a:ln w="12700">
            <a:solidFill>
              <a:srgbClr val="A85A6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69480" y="1828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2,47 (1,37–4,43)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Wang 2024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237744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Insulina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546424" y="2377440"/>
            <a:ext cx="311541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648425" y="2322576"/>
            <a:ext cx="109728" cy="109728"/>
          </a:xfrm>
          <a:prstGeom prst="rect">
            <a:avLst/>
          </a:prstGeom>
          <a:solidFill>
            <a:srgbClr val="E0A08E"/>
          </a:solidFill>
          <a:ln w="12700">
            <a:solidFill>
              <a:srgbClr val="E0A08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69480" y="2194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0,74 (0,60–0,91)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 2025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237744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Não-utilizadores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508058" y="2743200"/>
            <a:ext cx="412931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658465" y="2688336"/>
            <a:ext cx="109728" cy="109728"/>
          </a:xfrm>
          <a:prstGeom prst="rect">
            <a:avLst/>
          </a:prstGeom>
          <a:solidFill>
            <a:srgbClr val="E0A08E"/>
          </a:solidFill>
          <a:ln w="12700">
            <a:solidFill>
              <a:srgbClr val="E0A08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269480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0,75 (0,57–0,99)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 2026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2377440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Progestativo isolado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949164" y="3108960"/>
            <a:ext cx="365274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066725" y="3054096"/>
            <a:ext cx="109728" cy="109728"/>
          </a:xfrm>
          <a:prstGeom prst="rect">
            <a:avLst/>
          </a:prstGeom>
          <a:solidFill>
            <a:srgbClr val="E0A08E"/>
          </a:solidFill>
          <a:ln w="12700">
            <a:solidFill>
              <a:srgbClr val="E0A08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269480" y="2926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0,34 (0,27–0,44)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 2026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237744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Metformina + progestativo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509516" y="3474720"/>
            <a:ext cx="1024337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973106" y="3419856"/>
            <a:ext cx="109728" cy="109728"/>
          </a:xfrm>
          <a:prstGeom prst="rect">
            <a:avLst/>
          </a:prstGeom>
          <a:solidFill>
            <a:srgbClr val="E0A08E"/>
          </a:solidFill>
          <a:ln w="12700">
            <a:solidFill>
              <a:srgbClr val="E0A08E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269480" y="3291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0,30 (0,15–0,59)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928507" y="1417320"/>
            <a:ext cx="0" cy="2286000"/>
          </a:xfrm>
          <a:prstGeom prst="line">
            <a:avLst/>
          </a:prstGeom>
          <a:noFill/>
          <a:ln w="12700">
            <a:solidFill>
              <a:srgbClr val="5A5A5A"/>
            </a:solidFill>
            <a:prstDash val="dash"/>
          </a:ln>
        </p:spPr>
      </p:sp>
      <p:sp>
        <p:nvSpPr>
          <p:cNvPr id="42" name="Shape 39"/>
          <p:cNvSpPr/>
          <p:nvPr/>
        </p:nvSpPr>
        <p:spPr>
          <a:xfrm>
            <a:off x="4206240" y="3703320"/>
            <a:ext cx="2926080" cy="0"/>
          </a:xfrm>
          <a:prstGeom prst="line">
            <a:avLst/>
          </a:prstGeom>
          <a:noFill/>
          <a:ln w="9525">
            <a:solidFill>
              <a:srgbClr val="5A5A5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3977640" y="37307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0,1</a:t>
            </a:r>
            <a:endParaRPr lang="en-US" sz="800" dirty="0"/>
          </a:p>
        </p:txBody>
      </p:sp>
      <p:sp>
        <p:nvSpPr>
          <p:cNvPr id="44" name="Text 41"/>
          <p:cNvSpPr txBox="1"/>
          <p:nvPr/>
        </p:nvSpPr>
        <p:spPr>
          <a:xfrm>
            <a:off x="4662999" y="37307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0,25</a:t>
            </a:r>
            <a:endParaRPr lang="en-US" sz="800" dirty="0"/>
          </a:p>
        </p:txBody>
      </p:sp>
      <p:sp>
        <p:nvSpPr>
          <p:cNvPr id="45" name="Text 42"/>
          <p:cNvSpPr txBox="1"/>
          <p:nvPr/>
        </p:nvSpPr>
        <p:spPr>
          <a:xfrm>
            <a:off x="5181453" y="37307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0,5</a:t>
            </a:r>
            <a:endParaRPr lang="en-US" sz="800" dirty="0"/>
          </a:p>
        </p:txBody>
      </p:sp>
      <p:sp>
        <p:nvSpPr>
          <p:cNvPr id="46" name="Text 43"/>
          <p:cNvSpPr txBox="1"/>
          <p:nvPr/>
        </p:nvSpPr>
        <p:spPr>
          <a:xfrm>
            <a:off x="5699907" y="37307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47" name="Text 44"/>
          <p:cNvSpPr txBox="1"/>
          <p:nvPr/>
        </p:nvSpPr>
        <p:spPr>
          <a:xfrm>
            <a:off x="6218361" y="37307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48" name="Text 45"/>
          <p:cNvSpPr txBox="1"/>
          <p:nvPr/>
        </p:nvSpPr>
        <p:spPr>
          <a:xfrm>
            <a:off x="6903720" y="37307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4206240" y="3931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favorece GLP-1RA        desfavorece →</a:t>
            </a:r>
            <a:endParaRPr lang="en-US" sz="800" dirty="0"/>
          </a:p>
        </p:txBody>
      </p:sp>
      <p:sp>
        <p:nvSpPr>
          <p:cNvPr id="50" name="Text 47"/>
          <p:cNvSpPr txBox="1"/>
          <p:nvPr/>
        </p:nvSpPr>
        <p:spPr>
          <a:xfrm>
            <a:off x="640080" y="43434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mais fraco o comparador e mais baixo o risco basal, maior o benefício aparente → padrão sugestivo de confundimento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137160"/>
            <a:ext cx="1188720" cy="1325880"/>
          </a:xfrm>
          <a:prstGeom prst="ellipse">
            <a:avLst/>
          </a:prstGeom>
          <a:solidFill>
            <a:srgbClr val="F7CCD3"/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8366760" y="164592"/>
            <a:ext cx="914400" cy="45720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4" name="Shape 2"/>
          <p:cNvSpPr/>
          <p:nvPr/>
        </p:nvSpPr>
        <p:spPr>
          <a:xfrm>
            <a:off x="-777240" y="3108960"/>
            <a:ext cx="1234440" cy="1737360"/>
          </a:xfrm>
          <a:prstGeom prst="ellipse">
            <a:avLst/>
          </a:prstGeom>
          <a:solidFill>
            <a:srgbClr val="A85A62"/>
          </a:solidFill>
          <a:ln/>
        </p:spPr>
      </p:sp>
      <p:sp>
        <p:nvSpPr>
          <p:cNvPr id="5" name="Shape 3"/>
          <p:cNvSpPr/>
          <p:nvPr/>
        </p:nvSpPr>
        <p:spPr>
          <a:xfrm>
            <a:off x="7635240" y="4572000"/>
            <a:ext cx="1280160" cy="109728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Porque podem os GLP-1RA atuar no endométrio? Evidência pré-clínica contraditória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760720" y="105156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5A5A5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60720" y="1051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Nível: pré-clínico (in vitro / tecido)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146304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F7CCD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49808" y="1536192"/>
            <a:ext cx="22494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Efeitos metabólicos – indiretos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10312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peso corporal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sensibilidade à insulina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insulina e sinalização IGF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inflamação sistémica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1840" y="146304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A85A6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01568" y="1536192"/>
            <a:ext cx="22494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Efeito antitumoral direto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3291840" y="210312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GLP-1R → ↑ cAMP/PKA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AMPK → ↓ mTOR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proliferação, ↑ apoptose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(Kanda 2018: linhas celulares)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43600" y="146304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B03A2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053328" y="1536192"/>
            <a:ext cx="22494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Efeito pró-tumoral direto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0" y="210312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GLP-1R ↑ sobrevivência, migração e invasão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Proteção contra a ferroptose (↓ ROS)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 2024: linhas celulares)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0690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papel direto do GLP-1R no carcinoma do endométrio não está estabelecido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47365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Kanda R, et al. Expression of the GLP-1 receptor and its role in regulating autophagy in endometrial cancer. BMC Cancer. 2018;18(1):657 · Li W, Lyu W, Liu S, Ruan F, Zhang X. GLP1R boosts survival, migration and invasion of endometrial cancer cells and protects against ferroptotic cell death. J Obstet Gynaecol. 2024;44(1):2301324.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137160"/>
            <a:ext cx="1188720" cy="1325880"/>
          </a:xfrm>
          <a:prstGeom prst="ellipse">
            <a:avLst/>
          </a:prstGeom>
          <a:solidFill>
            <a:srgbClr val="F7CCD3"/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8366760" y="164592"/>
            <a:ext cx="914400" cy="45720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4" name="Shape 2"/>
          <p:cNvSpPr/>
          <p:nvPr/>
        </p:nvSpPr>
        <p:spPr>
          <a:xfrm>
            <a:off x="-777240" y="3108960"/>
            <a:ext cx="1234440" cy="1737360"/>
          </a:xfrm>
          <a:prstGeom prst="ellipse">
            <a:avLst/>
          </a:prstGeom>
          <a:solidFill>
            <a:srgbClr val="A85A62"/>
          </a:solidFill>
          <a:ln/>
        </p:spPr>
      </p:sp>
      <p:sp>
        <p:nvSpPr>
          <p:cNvPr id="5" name="Shape 3"/>
          <p:cNvSpPr/>
          <p:nvPr/>
        </p:nvSpPr>
        <p:spPr>
          <a:xfrm>
            <a:off x="7635240" y="4572000"/>
            <a:ext cx="1280160" cy="109728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Semaglutido + levonorgestrel em linhas celulares e organoides de carcinoma do endométrio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03520" y="1051560"/>
            <a:ext cx="3017520" cy="292608"/>
          </a:xfrm>
          <a:prstGeom prst="roundRect">
            <a:avLst>
              <a:gd name="adj" fmla="val 25000"/>
            </a:avLst>
          </a:prstGeom>
          <a:solidFill>
            <a:srgbClr val="5A5A5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0" y="10515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Nível: pré-clínico (linhas celulares e organoides)</a:t>
            </a:r>
            <a:endParaRPr lang="en-US" sz="900" dirty="0"/>
          </a:p>
        </p:txBody>
      </p:sp>
      <p:pic>
        <p:nvPicPr>
          <p:cNvPr id="9" name="Image 0" descr="/tmp/claude-0/-home-user-SAV/f36fa6da-8765-501b-b4d2-e431596a13f9/scratchpad/img/p0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24128"/>
            <a:ext cx="2377440" cy="658368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77724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114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Achado (in vitro / organoides)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Interpretação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A6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Células do endométrio expressam GLP-1R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semaglutido pode atuar diretamente no tecido endometrial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agonista aumenta a expressão do recetor GLP-1R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Possível potenciação do efeito com o tratamento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Levonorgestrel + semaglutido → ↓ viabilidade celular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Efeito antiproliferativo sinérgico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Efeito presente em tumores PR alto e PR baixo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Relevante mesmo em tumores menos responsivos à progesterona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Semaglutido ↑ recetores de progesterona (PR, PGRMC1/2)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Potencia o efeito do levonorgestrel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40080" y="4343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extrapolável para prevenção em mulheres sem evidência clínica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47365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Hagemann AR, Hagemann IS, Mutch DG, et al. Enhancing Progestin Therapy with a Glucagon-Like Peptide 1 Agonist for the Conservative Management of Endometrial Cancer.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137160"/>
            <a:ext cx="1188720" cy="1325880"/>
          </a:xfrm>
          <a:prstGeom prst="ellipse">
            <a:avLst/>
          </a:prstGeom>
          <a:solidFill>
            <a:srgbClr val="F7CCD3"/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8366760" y="164592"/>
            <a:ext cx="914400" cy="45720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4" name="Shape 2"/>
          <p:cNvSpPr/>
          <p:nvPr/>
        </p:nvSpPr>
        <p:spPr>
          <a:xfrm>
            <a:off x="-777240" y="3108960"/>
            <a:ext cx="1234440" cy="1737360"/>
          </a:xfrm>
          <a:prstGeom prst="ellipse">
            <a:avLst/>
          </a:prstGeom>
          <a:solidFill>
            <a:srgbClr val="A85A62"/>
          </a:solidFill>
          <a:ln/>
        </p:spPr>
      </p:sp>
      <p:sp>
        <p:nvSpPr>
          <p:cNvPr id="5" name="Shape 3"/>
          <p:cNvSpPr/>
          <p:nvPr/>
        </p:nvSpPr>
        <p:spPr>
          <a:xfrm>
            <a:off x="7635240" y="4572000"/>
            <a:ext cx="1280160" cy="109728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Estudos pré-clínicos in vivo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760720" y="105156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5A5A5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760720" y="1051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Nível: pré-clínico (modelos animais)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772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83464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Estudo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 / intervenção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A6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Zhang et al., Oncol Rep 2016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Exenatido; xenotransplantes Ishikawa em ratinhos nude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↓ volume e ↓ peso tumoral vs controlo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Karunadhas et al., 2024 (UCD; estudo-piloto)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Liraglutido + restrição calórica 50%; ratos BDII/Han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↓ incidência de CE: 19% (4/21) vs 58% (10/17)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Singleton et al., Gynecol Oncol 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 Lkb1/p53; retatrutida (agonista triplo) vs placebo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↓ peso tumoral 80,47% (obesos) e 51,38% (magros)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Diggs et al., Gynecol Oncol 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 Lkb1/p53 em ratinhos obesos; tirzepatida (agonista duplo)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↓ crescimento tumoral 72% (tirzepatida) e 69% (restrição energética intermitente)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B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40080" y="4297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Efeito direto do fármaco ou mediado pela perda de peso? (a restrição energética tem efeito semelhante)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7365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Zhang Y, et al. Exenatide inhibits the growth of endometrial cancer Ishikawa xenografts in nude mice. Oncol Rep. 2016;35(3):1340-8 · Karunadhas NS, Docherty NG, le Roux CW, et al. Histological evaluation of endometrial cancer in BDII/Han rats and a pilot study of the impact of liraglutide and calorie restriction on tumour incidence and type. UCD, 2024.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137160"/>
            <a:ext cx="1188720" cy="1325880"/>
          </a:xfrm>
          <a:prstGeom prst="ellipse">
            <a:avLst/>
          </a:prstGeom>
          <a:solidFill>
            <a:srgbClr val="F7CCD3"/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8366760" y="164592"/>
            <a:ext cx="914400" cy="45720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4" name="Shape 2"/>
          <p:cNvSpPr/>
          <p:nvPr/>
        </p:nvSpPr>
        <p:spPr>
          <a:xfrm>
            <a:off x="-777240" y="3108960"/>
            <a:ext cx="1234440" cy="1737360"/>
          </a:xfrm>
          <a:prstGeom prst="ellipse">
            <a:avLst/>
          </a:prstGeom>
          <a:solidFill>
            <a:srgbClr val="A85A62"/>
          </a:solidFill>
          <a:ln/>
        </p:spPr>
      </p:sp>
      <p:sp>
        <p:nvSpPr>
          <p:cNvPr id="5" name="Shape 3"/>
          <p:cNvSpPr/>
          <p:nvPr/>
        </p:nvSpPr>
        <p:spPr>
          <a:xfrm>
            <a:off x="7635240" y="4572000"/>
            <a:ext cx="1280160" cy="109728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Agonistas GLP-1 e carcinoma do endométrio: o que podemos concluir?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2468880" cy="2423160"/>
          </a:xfrm>
          <a:prstGeom prst="roundRect">
            <a:avLst>
              <a:gd name="adj" fmla="val 3774"/>
            </a:avLst>
          </a:prstGeom>
          <a:solidFill>
            <a:srgbClr val="A85A6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261872"/>
            <a:ext cx="224942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ENSAIOS ALEATORIZADOS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efeito demonstrado no 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Certeza baixa: poucos eventos, seguimento curto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Sinal isolado com tirzepatida 15 mg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468880" cy="2423160"/>
          </a:xfrm>
          <a:prstGeom prst="roundRect">
            <a:avLst>
              <a:gd name="adj" fmla="val 3774"/>
            </a:avLst>
          </a:prstGeom>
          <a:solidFill>
            <a:srgbClr val="E0A08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01568" y="1261872"/>
            <a:ext cx="224942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ESTUDOS OBSERVACIONAIS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Inconsistentes: ↓ risco vs não-utilizadores/insulina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Desenho mais robusto (Rothman): sem proteção; ↑ risco &gt; 2 anos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Efeitos implausíveis → confundimento residual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1188720"/>
            <a:ext cx="2468880" cy="2423160"/>
          </a:xfrm>
          <a:prstGeom prst="roundRect">
            <a:avLst>
              <a:gd name="adj" fmla="val 3774"/>
            </a:avLst>
          </a:prstGeom>
          <a:solidFill>
            <a:srgbClr val="F7CCD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53328" y="1261872"/>
            <a:ext cx="224942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PRÉ-CLÍNICOS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contraditórios: antiproliferativo vs pró-tumoral (Li 2024)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Difícil separar efeito direto da perda de peso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7772400" cy="777240"/>
          </a:xfrm>
          <a:prstGeom prst="roundRect">
            <a:avLst>
              <a:gd name="adj" fmla="val 11765"/>
            </a:avLst>
          </a:prstGeom>
          <a:solidFill>
            <a:srgbClr val="FCEB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3867912"/>
            <a:ext cx="75529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possível recomendar GLP-1RA para prevenção do CE.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uma síntese quantitativa dos dados humanos que separe desenhos, comparadores e duração de exposição.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137160"/>
            <a:ext cx="1188720" cy="1325880"/>
          </a:xfrm>
          <a:prstGeom prst="ellipse">
            <a:avLst/>
          </a:prstGeom>
          <a:solidFill>
            <a:srgbClr val="F7CCD3"/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8366760" y="164592"/>
            <a:ext cx="914400" cy="45720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4" name="Shape 2"/>
          <p:cNvSpPr/>
          <p:nvPr/>
        </p:nvSpPr>
        <p:spPr>
          <a:xfrm>
            <a:off x="-777240" y="3108960"/>
            <a:ext cx="1234440" cy="1737360"/>
          </a:xfrm>
          <a:prstGeom prst="ellipse">
            <a:avLst/>
          </a:prstGeom>
          <a:solidFill>
            <a:srgbClr val="A85A62"/>
          </a:solidFill>
          <a:ln/>
        </p:spPr>
      </p:sp>
      <p:sp>
        <p:nvSpPr>
          <p:cNvPr id="5" name="Shape 3"/>
          <p:cNvSpPr/>
          <p:nvPr/>
        </p:nvSpPr>
        <p:spPr>
          <a:xfrm>
            <a:off x="7635240" y="4572000"/>
            <a:ext cx="1280160" cy="109728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Proposta: revisão sistemática com meta-análise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40080" y="1188720"/>
            <a:ext cx="7772400" cy="868680"/>
          </a:xfrm>
          <a:prstGeom prst="roundRect">
            <a:avLst>
              <a:gd name="adj" fmla="val 10526"/>
            </a:avLst>
          </a:prstGeom>
          <a:solidFill>
            <a:srgbClr val="A85A6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49808" y="1261872"/>
            <a:ext cx="75529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“Em mulheres adultas, o uso de agonistas do recetor GLP-1 associa-se a menor incidência de carcinoma do endométrio, em comparação com placebo, não-uso ou outro antidiabético/antiobesidade?”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240280"/>
            <a:ext cx="3749040" cy="2331720"/>
          </a:xfrm>
          <a:prstGeom prst="roundRect">
            <a:avLst>
              <a:gd name="adj" fmla="val 3922"/>
            </a:avLst>
          </a:prstGeom>
          <a:solidFill>
            <a:srgbClr val="FCEBE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49808" y="2313432"/>
            <a:ext cx="3529584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Porquê meta-análise e não scoping review?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uma pergunta de efeito (prevenção), não de mapeamento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existem estudos humanos com estimativas de efeito (HR/OR) combináveis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quantificar heterogeneidade e testar o efeito do desenho e do comparador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2240280"/>
            <a:ext cx="3749040" cy="2331720"/>
          </a:xfrm>
          <a:prstGeom prst="roundRect">
            <a:avLst>
              <a:gd name="adj" fmla="val 3922"/>
            </a:avLst>
          </a:prstGeom>
          <a:solidFill>
            <a:srgbClr val="FCEB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773168" y="2313432"/>
            <a:ext cx="3529584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Restrita a dados humanos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Estudos pré-clínicos: apenas contexto biológico na discussão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registado no PROSPERO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segundo PRISMA 2020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137160"/>
            <a:ext cx="1188720" cy="1325880"/>
          </a:xfrm>
          <a:prstGeom prst="ellipse">
            <a:avLst/>
          </a:prstGeom>
          <a:solidFill>
            <a:srgbClr val="F7CCD3"/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8366760" y="164592"/>
            <a:ext cx="914400" cy="45720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4" name="Shape 2"/>
          <p:cNvSpPr/>
          <p:nvPr/>
        </p:nvSpPr>
        <p:spPr>
          <a:xfrm>
            <a:off x="-777240" y="3108960"/>
            <a:ext cx="1234440" cy="1737360"/>
          </a:xfrm>
          <a:prstGeom prst="ellipse">
            <a:avLst/>
          </a:prstGeom>
          <a:solidFill>
            <a:srgbClr val="A85A62"/>
          </a:solidFill>
          <a:ln/>
        </p:spPr>
      </p:sp>
      <p:sp>
        <p:nvSpPr>
          <p:cNvPr id="5" name="Shape 3"/>
          <p:cNvSpPr/>
          <p:nvPr/>
        </p:nvSpPr>
        <p:spPr>
          <a:xfrm>
            <a:off x="7635240" y="4572000"/>
            <a:ext cx="1280160" cy="109728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sistemática com meta-análise – PICO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1280160"/>
            <a:ext cx="548640" cy="548640"/>
          </a:xfrm>
          <a:prstGeom prst="ellipse">
            <a:avLst/>
          </a:prstGeom>
          <a:solidFill>
            <a:srgbClr val="A85A6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1887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População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Mulheres adultas, com ou sem DM2/obesidade, com ou sem patologia uterina benigna ou hiperplasia sem atipia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130552"/>
            <a:ext cx="548640" cy="54864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130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039112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Intervenção / exposição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Agonistas do recetor GLP-1, incluindo agonistas duplos e triplos: exenatido, lixisenatido, liraglutido, dulaglutido, semaglutido, PEG-loxenatido, tirzepatida, retatrutida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2980944"/>
            <a:ext cx="548640" cy="548640"/>
          </a:xfrm>
          <a:prstGeom prst="ellipse">
            <a:avLst/>
          </a:prstGeom>
          <a:solidFill>
            <a:srgbClr val="A85A6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980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889504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Comparador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Placebo (RCT) · comparador ativo (sulfonilureias, iDPP-4, iSGLT2, insulina, metformina) · não-utilizadores – analisados separadamente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831336"/>
            <a:ext cx="548640" cy="54864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831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739896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Primário: incidência de carcinoma do endométrio. Secundários: hiperplasia atípica/EIN, histerectomia, tumores uterinos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137160"/>
            <a:ext cx="1188720" cy="1325880"/>
          </a:xfrm>
          <a:prstGeom prst="ellipse">
            <a:avLst/>
          </a:prstGeom>
          <a:solidFill>
            <a:srgbClr val="F7CCD3"/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8366760" y="164592"/>
            <a:ext cx="914400" cy="45720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4" name="Shape 2"/>
          <p:cNvSpPr/>
          <p:nvPr/>
        </p:nvSpPr>
        <p:spPr>
          <a:xfrm>
            <a:off x="-777240" y="3108960"/>
            <a:ext cx="1234440" cy="1737360"/>
          </a:xfrm>
          <a:prstGeom prst="ellipse">
            <a:avLst/>
          </a:prstGeom>
          <a:solidFill>
            <a:srgbClr val="A85A62"/>
          </a:solidFill>
          <a:ln/>
        </p:spPr>
      </p:sp>
      <p:sp>
        <p:nvSpPr>
          <p:cNvPr id="5" name="Shape 3"/>
          <p:cNvSpPr/>
          <p:nvPr/>
        </p:nvSpPr>
        <p:spPr>
          <a:xfrm>
            <a:off x="7635240" y="4572000"/>
            <a:ext cx="1280160" cy="109728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Critérios de elegibilidade e pesquisa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3749040" cy="1783080"/>
          </a:xfrm>
          <a:prstGeom prst="roundRect">
            <a:avLst>
              <a:gd name="adj" fmla="val 5128"/>
            </a:avLst>
          </a:prstGeom>
          <a:solidFill>
            <a:srgbClr val="FCEB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261872"/>
            <a:ext cx="3529584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Inclusão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RCT que reportem casos de 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Coortes e caso-controlo com estimativa de efeito (HR, RR, OR) ou dados para a calcular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Exposição definida a GLP-1RA (incl. duplos e triplos)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749040" cy="1783080"/>
          </a:xfrm>
          <a:prstGeom prst="roundRect">
            <a:avLst>
              <a:gd name="adj" fmla="val 5128"/>
            </a:avLst>
          </a:prstGeom>
          <a:solidFill>
            <a:srgbClr val="FCEB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73168" y="1261872"/>
            <a:ext cx="3529584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Exclusão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Estudos pré-clínicos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Tratamento de CE já diagnosticado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GLP-1RA sem dados separáveis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Revisões narrativas, editoriais, case reports, resumos sem dados suficientes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7772400" cy="1097280"/>
          </a:xfrm>
          <a:prstGeom prst="roundRect">
            <a:avLst>
              <a:gd name="adj" fmla="val 8333"/>
            </a:avLst>
          </a:prstGeom>
          <a:solidFill>
            <a:srgbClr val="A85A6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273552"/>
            <a:ext cx="7552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Fontes: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MEDLINE/PubMed, Embase, Cochrane CENTRAL, Scopus, Web of Science; ClinicalTrials.gov e registos de ensaios; listas de referências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Seleção: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revisores independentes; discordâncias → consenso / 3.º revisor; fluxograma PRISMA 2020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137160"/>
            <a:ext cx="1188720" cy="1325880"/>
          </a:xfrm>
          <a:prstGeom prst="ellipse">
            <a:avLst/>
          </a:prstGeom>
          <a:solidFill>
            <a:srgbClr val="F7CCD3"/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8366760" y="164592"/>
            <a:ext cx="914400" cy="45720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4" name="Shape 2"/>
          <p:cNvSpPr/>
          <p:nvPr/>
        </p:nvSpPr>
        <p:spPr>
          <a:xfrm>
            <a:off x="-777240" y="3108960"/>
            <a:ext cx="1234440" cy="1737360"/>
          </a:xfrm>
          <a:prstGeom prst="ellipse">
            <a:avLst/>
          </a:prstGeom>
          <a:solidFill>
            <a:srgbClr val="A85A62"/>
          </a:solidFill>
          <a:ln/>
        </p:spPr>
      </p:sp>
      <p:sp>
        <p:nvSpPr>
          <p:cNvPr id="5" name="Shape 3"/>
          <p:cNvSpPr/>
          <p:nvPr/>
        </p:nvSpPr>
        <p:spPr>
          <a:xfrm>
            <a:off x="7635240" y="4572000"/>
            <a:ext cx="1280160" cy="109728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de viés, síntese e análises planeadas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1143000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A85A6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1430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de viés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114300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 2 (RCT) · ROBINS-E / ROBINS-I (observacionais)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828800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E0A08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18288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Meta-análise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182880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Efeitos aleatórios (REML, Hartung-Knapp) · RCT e observacionais em separado · I² e intervalo de predição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514600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A85A6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5146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Subgrupos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251460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de comparador (ativo vs não-utilizador) · população (DM2, obesidade, patologia uterina) · fármaco · duração (≤ 2 vs &gt; 2 anos)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E0A08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2004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Sensibilidade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651760" y="320040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Apenas baixo risco de viés · apenas desenho novo utilizador/comparador ativo · E-value para confundimento residual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886200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A85A6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8862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Certeza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651760" y="388620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Viés de publicação (funil/Egger se ≥ 10 estudos) · GRADE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137160"/>
            <a:ext cx="1188720" cy="1325880"/>
          </a:xfrm>
          <a:prstGeom prst="ellipse">
            <a:avLst/>
          </a:prstGeom>
          <a:solidFill>
            <a:srgbClr val="F7CCD3"/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8366760" y="164592"/>
            <a:ext cx="914400" cy="45720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4" name="Shape 2"/>
          <p:cNvSpPr/>
          <p:nvPr/>
        </p:nvSpPr>
        <p:spPr>
          <a:xfrm>
            <a:off x="-777240" y="3108960"/>
            <a:ext cx="1234440" cy="1737360"/>
          </a:xfrm>
          <a:prstGeom prst="ellipse">
            <a:avLst/>
          </a:prstGeom>
          <a:solidFill>
            <a:srgbClr val="A85A62"/>
          </a:solidFill>
          <a:ln/>
        </p:spPr>
      </p:sp>
      <p:sp>
        <p:nvSpPr>
          <p:cNvPr id="5" name="Shape 3"/>
          <p:cNvSpPr/>
          <p:nvPr/>
        </p:nvSpPr>
        <p:spPr>
          <a:xfrm>
            <a:off x="7635240" y="4572000"/>
            <a:ext cx="1280160" cy="109728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a extrair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3749040" cy="1417320"/>
          </a:xfrm>
          <a:prstGeom prst="roundRect">
            <a:avLst>
              <a:gd name="adj" fmla="val 6452"/>
            </a:avLst>
          </a:prstGeom>
          <a:solidFill>
            <a:srgbClr val="FCEB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307592"/>
            <a:ext cx="35295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 / ano / país · desenho · fonte de dados · N · seguimento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234440"/>
            <a:ext cx="3749040" cy="1417320"/>
          </a:xfrm>
          <a:prstGeom prst="roundRect">
            <a:avLst>
              <a:gd name="adj" fmla="val 6452"/>
            </a:avLst>
          </a:prstGeom>
          <a:solidFill>
            <a:srgbClr val="F7CCD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81728" y="1307592"/>
            <a:ext cx="35295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Exposição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GLP-1RA (fármaco, dose) · duração · desenho novo utilizador · comparador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3749040" cy="1417320"/>
          </a:xfrm>
          <a:prstGeom prst="roundRect">
            <a:avLst>
              <a:gd name="adj" fmla="val 6452"/>
            </a:avLst>
          </a:prstGeom>
          <a:solidFill>
            <a:srgbClr val="F7CCD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2907792"/>
            <a:ext cx="35295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População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Idade · IMC · DM2 · patologia uterina/hiperplasia · terapêutica hormonal concomitante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834640"/>
            <a:ext cx="3749040" cy="1417320"/>
          </a:xfrm>
          <a:prstGeom prst="roundRect">
            <a:avLst>
              <a:gd name="adj" fmla="val 6452"/>
            </a:avLst>
          </a:prstGeom>
          <a:solidFill>
            <a:srgbClr val="FCEB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81728" y="2907792"/>
            <a:ext cx="35295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A8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CE por grupo · HR/RR/OR ajustado e IC95% · variáveis de ajuste · histerectomia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137160"/>
            <a:ext cx="1188720" cy="1325880"/>
          </a:xfrm>
          <a:prstGeom prst="ellipse">
            <a:avLst/>
          </a:prstGeom>
          <a:solidFill>
            <a:srgbClr val="F7CCD3"/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8366760" y="164592"/>
            <a:ext cx="914400" cy="45720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4" name="Shape 2"/>
          <p:cNvSpPr/>
          <p:nvPr/>
        </p:nvSpPr>
        <p:spPr>
          <a:xfrm>
            <a:off x="-777240" y="3108960"/>
            <a:ext cx="1234440" cy="1737360"/>
          </a:xfrm>
          <a:prstGeom prst="ellipse">
            <a:avLst/>
          </a:prstGeom>
          <a:solidFill>
            <a:srgbClr val="A85A62"/>
          </a:solidFill>
          <a:ln/>
        </p:spPr>
      </p:sp>
      <p:sp>
        <p:nvSpPr>
          <p:cNvPr id="5" name="Shape 3"/>
          <p:cNvSpPr/>
          <p:nvPr/>
        </p:nvSpPr>
        <p:spPr>
          <a:xfrm>
            <a:off x="7635240" y="4572000"/>
            <a:ext cx="1280160" cy="109728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Mensagens finais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261872"/>
            <a:ext cx="502920" cy="50292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18872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Obesidade, hiperinsulinemia e inflamação estão implicadas na carcinogénese endometrial; os GLP-1RA atuam sobre estes fatores.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2103120"/>
            <a:ext cx="502920" cy="50292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029968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ensaios aleatorizados não mostram efeito no CE (certeza baixa); os estudos observacionais são inconsistentes e o desenho mais robusto não mostra proteção.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2944368"/>
            <a:ext cx="502920" cy="502920"/>
          </a:xfrm>
          <a:prstGeom prst="ellipse">
            <a:avLst/>
          </a:prstGeom>
          <a:solidFill>
            <a:srgbClr val="E0A08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2944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871216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evidência pré-clínica é contraditória e não deve sustentar conclusões clínicas.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3785616"/>
            <a:ext cx="502920" cy="502920"/>
          </a:xfrm>
          <a:prstGeom prst="ellipse">
            <a:avLst/>
          </a:prstGeom>
          <a:solidFill>
            <a:srgbClr val="A85A6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785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712464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sistemática com meta-análise de dados humanos, estratificada por desenho, comparador e duração, para estimar o efeito real.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Agonistas do recetor GLP-1 e prevenção do carcinoma do endométrio</dc:title>
  <dc:subject>PptxGenJS Presentation</dc:subject>
  <dc:creator>Beatriz David</dc:creator>
  <cp:lastModifiedBy>Beatriz David</cp:lastModifiedBy>
  <cp:revision>1</cp:revision>
  <dcterms:created xsi:type="dcterms:W3CDTF">2026-10-08T09:53:44Z</dcterms:created>
  <dcterms:modified xsi:type="dcterms:W3CDTF">2026-10-08T09:53:44Z</dcterms:modified>
</cp:coreProperties>
</file>